
<file path=[Content_Types].xml><?xml version="1.0" encoding="utf-8"?>
<Types xmlns="http://schemas.openxmlformats.org/package/2006/content-types">
  <Default Extension="jpeg" ContentType="image/jpeg"/>
  <Default Extension="JPG" ContentType="image/.jp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3"/>
    <p:sldId id="266" r:id="rId4"/>
    <p:sldId id="257" r:id="rId5"/>
    <p:sldId id="259" r:id="rId6"/>
    <p:sldId id="265" r:id="rId7"/>
    <p:sldId id="263" r:id="rId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934"/>
    <p:restoredTop sz="94731"/>
  </p:normalViewPr>
  <p:slideViewPr>
    <p:cSldViewPr snapToGrid="0" snapToObjects="1">
      <p:cViewPr varScale="1">
        <p:scale>
          <a:sx n="150" d="100"/>
          <a:sy n="150" d="100"/>
        </p:scale>
        <p:origin x="2016" y="12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presProps" Target="presProps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1" Type="http://schemas.openxmlformats.org/officeDocument/2006/relationships/tableStyles" Target="tableStyles.xml"/><Relationship Id="rId10" Type="http://schemas.openxmlformats.org/officeDocument/2006/relationships/viewProps" Target="viewProps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519F75-1359-3649-AF4C-DE91DCDCC81E}" type="datetimeFigureOut">
              <a:rPr kumimoji="1" lang="zh-CN" altLang="en-US" smtClean="0"/>
            </a:fld>
            <a:endParaRPr kumimoji="1"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87496F-8A2D-0741-BA92-08917D77AA97}" type="slidenum">
              <a:rPr kumimoji="1" lang="zh-CN" altLang="en-US" smtClean="0"/>
            </a:fld>
            <a:endParaRPr kumimoji="1"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519F75-1359-3649-AF4C-DE91DCDCC81E}" type="datetimeFigureOut">
              <a:rPr kumimoji="1" lang="zh-CN" altLang="en-US" smtClean="0"/>
            </a:fld>
            <a:endParaRPr kumimoji="1"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87496F-8A2D-0741-BA92-08917D77AA97}" type="slidenum">
              <a:rPr kumimoji="1" lang="zh-CN" altLang="en-US" smtClean="0"/>
            </a:fld>
            <a:endParaRPr kumimoji="1"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519F75-1359-3649-AF4C-DE91DCDCC81E}" type="datetimeFigureOut">
              <a:rPr kumimoji="1" lang="zh-CN" altLang="en-US" smtClean="0"/>
            </a:fld>
            <a:endParaRPr kumimoji="1"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87496F-8A2D-0741-BA92-08917D77AA97}" type="slidenum">
              <a:rPr kumimoji="1" lang="zh-CN" altLang="en-US" smtClean="0"/>
            </a:fld>
            <a:endParaRPr kumimoji="1"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519F75-1359-3649-AF4C-DE91DCDCC81E}" type="datetimeFigureOut">
              <a:rPr kumimoji="1" lang="zh-CN" altLang="en-US" smtClean="0"/>
            </a:fld>
            <a:endParaRPr kumimoji="1"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87496F-8A2D-0741-BA92-08917D77AA97}" type="slidenum">
              <a:rPr kumimoji="1" lang="zh-CN" altLang="en-US" smtClean="0"/>
            </a:fld>
            <a:endParaRPr kumimoji="1"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519F75-1359-3649-AF4C-DE91DCDCC81E}" type="datetimeFigureOut">
              <a:rPr kumimoji="1" lang="zh-CN" altLang="en-US" smtClean="0"/>
            </a:fld>
            <a:endParaRPr kumimoji="1" lang="zh-CN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87496F-8A2D-0741-BA92-08917D77AA97}" type="slidenum">
              <a:rPr kumimoji="1" lang="zh-CN" altLang="en-US" smtClean="0"/>
            </a:fld>
            <a:endParaRPr kumimoji="1"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519F75-1359-3649-AF4C-DE91DCDCC81E}" type="datetimeFigureOut">
              <a:rPr kumimoji="1" lang="zh-CN" altLang="en-US" smtClean="0"/>
            </a:fld>
            <a:endParaRPr kumimoji="1" lang="zh-CN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87496F-8A2D-0741-BA92-08917D77AA97}" type="slidenum">
              <a:rPr kumimoji="1" lang="zh-CN" altLang="en-US" smtClean="0"/>
            </a:fld>
            <a:endParaRPr kumimoji="1"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519F75-1359-3649-AF4C-DE91DCDCC81E}" type="datetimeFigureOut">
              <a:rPr kumimoji="1" lang="zh-CN" altLang="en-US" smtClean="0"/>
            </a:fld>
            <a:endParaRPr kumimoji="1" lang="zh-CN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87496F-8A2D-0741-BA92-08917D77AA97}" type="slidenum">
              <a:rPr kumimoji="1" lang="zh-CN" altLang="en-US" smtClean="0"/>
            </a:fld>
            <a:endParaRPr kumimoji="1"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519F75-1359-3649-AF4C-DE91DCDCC81E}" type="datetimeFigureOut">
              <a:rPr kumimoji="1" lang="zh-CN" altLang="en-US" smtClean="0"/>
            </a:fld>
            <a:endParaRPr kumimoji="1"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87496F-8A2D-0741-BA92-08917D77AA97}" type="slidenum">
              <a:rPr kumimoji="1" lang="zh-CN" altLang="en-US" smtClean="0"/>
            </a:fld>
            <a:endParaRPr kumimoji="1"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zh-CN" altLang="en-US"/>
              <a:t>单击图标添加图片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519F75-1359-3649-AF4C-DE91DCDCC81E}" type="datetimeFigureOut">
              <a:rPr kumimoji="1" lang="zh-CN" altLang="en-US" smtClean="0"/>
            </a:fld>
            <a:endParaRPr kumimoji="1"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87496F-8A2D-0741-BA92-08917D77AA97}" type="slidenum">
              <a:rPr kumimoji="1" lang="zh-CN" altLang="en-US" smtClean="0"/>
            </a:fld>
            <a:endParaRPr kumimoji="1"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519F75-1359-3649-AF4C-DE91DCDCC81E}" type="datetimeFigureOut">
              <a:rPr kumimoji="1" lang="zh-CN" altLang="en-US" smtClean="0"/>
            </a:fld>
            <a:endParaRPr kumimoji="1"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87496F-8A2D-0741-BA92-08917D77AA97}" type="slidenum">
              <a:rPr kumimoji="1" lang="zh-CN" altLang="en-US" smtClean="0"/>
            </a:fld>
            <a:endParaRPr kumimoji="1"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519F75-1359-3649-AF4C-DE91DCDCC81E}" type="datetimeFigureOut">
              <a:rPr kumimoji="1" lang="zh-CN" altLang="en-US" smtClean="0"/>
            </a:fld>
            <a:endParaRPr kumimoji="1"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87496F-8A2D-0741-BA92-08917D77AA97}" type="slidenum">
              <a:rPr kumimoji="1" lang="zh-CN" altLang="en-US" smtClean="0"/>
            </a:fld>
            <a:endParaRPr kumimoji="1" lang="zh-CN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Arial" panose="020B0604020202090204" pitchFamily="34" charset="0"/>
                <a:ea typeface="黑体" panose="02010609060101010101" pitchFamily="49" charset="-122"/>
                <a:cs typeface="Arial" panose="020B0604020202090204" pitchFamily="34" charset="0"/>
              </a:defRPr>
            </a:lvl1pPr>
          </a:lstStyle>
          <a:p>
            <a:fld id="{16519F75-1359-3649-AF4C-DE91DCDCC81E}" type="datetimeFigureOut">
              <a:rPr kumimoji="1" lang="zh-CN" altLang="en-US" smtClean="0"/>
            </a:fld>
            <a:endParaRPr kumimoji="1"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Arial" panose="020B0604020202090204" pitchFamily="34" charset="0"/>
                <a:ea typeface="黑体" panose="02010609060101010101" pitchFamily="49" charset="-122"/>
                <a:cs typeface="Arial" panose="020B0604020202090204" pitchFamily="34" charset="0"/>
              </a:defRPr>
            </a:lvl1pPr>
          </a:lstStyle>
          <a:p>
            <a:endParaRPr kumimoji="1"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Arial" panose="020B0604020202090204" pitchFamily="34" charset="0"/>
                <a:ea typeface="黑体" panose="02010609060101010101" pitchFamily="49" charset="-122"/>
                <a:cs typeface="Arial" panose="020B0604020202090204" pitchFamily="34" charset="0"/>
              </a:defRPr>
            </a:lvl1pPr>
          </a:lstStyle>
          <a:p>
            <a:fld id="{F987496F-8A2D-0741-BA92-08917D77AA97}" type="slidenum">
              <a:rPr kumimoji="1" lang="zh-CN" altLang="en-US" smtClean="0"/>
            </a:fld>
            <a:endParaRPr kumimoji="1"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Arial" panose="020B0604020202090204" pitchFamily="34" charset="0"/>
          <a:ea typeface="黑体" panose="02010609060101010101" pitchFamily="49" charset="-122"/>
          <a:cs typeface="Arial" panose="020B060402020209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90204" pitchFamily="34" charset="0"/>
        <a:buChar char="•"/>
        <a:defRPr sz="2800" kern="1200">
          <a:solidFill>
            <a:schemeClr val="tx1"/>
          </a:solidFill>
          <a:latin typeface="Arial" panose="020B0604020202090204" pitchFamily="34" charset="0"/>
          <a:ea typeface="黑体" panose="02010609060101010101" pitchFamily="49" charset="-122"/>
          <a:cs typeface="Arial" panose="020B060402020209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2400" kern="1200">
          <a:solidFill>
            <a:schemeClr val="tx1"/>
          </a:solidFill>
          <a:latin typeface="Arial" panose="020B0604020202090204" pitchFamily="34" charset="0"/>
          <a:ea typeface="黑体" panose="02010609060101010101" pitchFamily="49" charset="-122"/>
          <a:cs typeface="Arial" panose="020B060402020209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Arial" panose="020B0604020202090204" pitchFamily="34" charset="0"/>
          <a:ea typeface="黑体" panose="02010609060101010101" pitchFamily="49" charset="-122"/>
          <a:cs typeface="Arial" panose="020B060402020209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Arial" panose="020B0604020202090204" pitchFamily="34" charset="0"/>
          <a:ea typeface="黑体" panose="02010609060101010101" pitchFamily="49" charset="-122"/>
          <a:cs typeface="Arial" panose="020B060402020209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Arial" panose="020B0604020202090204" pitchFamily="34" charset="0"/>
          <a:ea typeface="黑体" panose="02010609060101010101" pitchFamily="49" charset="-122"/>
          <a:cs typeface="Arial" panose="020B060402020209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799465" y="2839009"/>
            <a:ext cx="7772400" cy="2387600"/>
          </a:xfrm>
        </p:spPr>
        <p:txBody>
          <a:bodyPr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zh-CN" altLang="en-US" sz="5400" dirty="0"/>
              <a:t>人工智能基础</a:t>
            </a:r>
            <a:br>
              <a:rPr kumimoji="1" lang="zh-CN" altLang="en-US" sz="5400" dirty="0"/>
            </a:br>
            <a:br>
              <a:rPr kumimoji="1" lang="en-US" altLang="zh-CN" sz="5400" dirty="0"/>
            </a:br>
            <a:r>
              <a:rPr lang="zh-CN" altLang="en-US" sz="2400">
                <a:solidFill>
                  <a:srgbClr val="898989"/>
                </a:solidFill>
                <a:latin typeface="+mn-lt"/>
                <a:ea typeface="+mn-ea"/>
                <a:cs typeface="+mn-cs"/>
              </a:rPr>
              <a:t>田锦东</a:t>
            </a:r>
            <a:br>
              <a:rPr lang="zh-CN" altLang="en-US" sz="2400">
                <a:solidFill>
                  <a:srgbClr val="898989"/>
                </a:solidFill>
                <a:latin typeface="+mn-lt"/>
                <a:ea typeface="+mn-ea"/>
                <a:cs typeface="+mn-cs"/>
              </a:rPr>
            </a:br>
            <a:r>
              <a:rPr lang="zh-CN" altLang="en-US" sz="2400">
                <a:solidFill>
                  <a:srgbClr val="898989"/>
                </a:solidFill>
                <a:latin typeface="+mn-lt"/>
                <a:ea typeface="+mn-ea"/>
                <a:cs typeface="+mn-cs"/>
                <a:sym typeface="+mn-ea"/>
              </a:rPr>
              <a:t>华东师范大学</a:t>
            </a:r>
            <a:br>
              <a:rPr lang="en-US" altLang="zh-CN" sz="2800" kern="1200">
                <a:solidFill>
                  <a:srgbClr val="898989"/>
                </a:solidFill>
                <a:latin typeface="+mn-lt"/>
                <a:ea typeface="+mn-ea"/>
                <a:cs typeface="+mn-cs"/>
              </a:rPr>
            </a:br>
            <a:endParaRPr kumimoji="1" lang="en-US" altLang="zh-CN" sz="2800" kern="1200" dirty="0">
              <a:solidFill>
                <a:srgbClr val="898989"/>
              </a:solidFill>
              <a:latin typeface="+mn-lt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课程考核要求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 dirty="0"/>
              <a:t>期末</a:t>
            </a:r>
            <a:r>
              <a:rPr lang="zh-CN" altLang="en-US" dirty="0"/>
              <a:t>汇报</a:t>
            </a:r>
            <a:endParaRPr lang="zh-CN" altLang="en-US" dirty="0"/>
          </a:p>
          <a:p>
            <a:r>
              <a:rPr lang="zh-CN" altLang="en-US" dirty="0"/>
              <a:t>实验课作业</a:t>
            </a:r>
            <a:endParaRPr lang="zh-CN" altLang="en-US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Project</a:t>
            </a:r>
            <a:r>
              <a:rPr kumimoji="1" lang="zh-CN" altLang="en-US" dirty="0"/>
              <a:t>与</a:t>
            </a:r>
            <a:r>
              <a:rPr kumimoji="1" lang="en-US" altLang="zh-CN" dirty="0"/>
              <a:t>Assignment</a:t>
            </a:r>
            <a:endParaRPr kumimoji="1" lang="en-US" altLang="zh-CN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628650" y="1691005"/>
            <a:ext cx="7886700" cy="4351338"/>
          </a:xfrm>
        </p:spPr>
        <p:txBody>
          <a:bodyPr>
            <a:noAutofit/>
          </a:bodyPr>
          <a:lstStyle/>
          <a:p>
            <a:pPr>
              <a:lnSpc>
                <a:spcPct val="110000"/>
              </a:lnSpc>
            </a:pPr>
            <a:r>
              <a:rPr kumimoji="1" lang="en-US" altLang="zh-CN" sz="1800" dirty="0"/>
              <a:t>Project/Assignment</a:t>
            </a:r>
            <a:r>
              <a:rPr kumimoji="1" lang="zh-CN" altLang="en-US" sz="1800" dirty="0"/>
              <a:t>总共五次</a:t>
            </a:r>
            <a:endParaRPr kumimoji="1" lang="en-US" altLang="zh-CN" sz="1800" dirty="0"/>
          </a:p>
          <a:p>
            <a:pPr>
              <a:lnSpc>
                <a:spcPct val="110000"/>
              </a:lnSpc>
            </a:pPr>
            <a:r>
              <a:rPr kumimoji="1" lang="zh-CN" altLang="en-US" sz="1800" dirty="0"/>
              <a:t>每次作业会设置</a:t>
            </a:r>
            <a:r>
              <a:rPr kumimoji="1" lang="en-US" altLang="zh-CN" sz="1800" dirty="0"/>
              <a:t>DDL</a:t>
            </a:r>
            <a:r>
              <a:rPr kumimoji="1" lang="zh-CN" altLang="en-US" sz="1800" dirty="0"/>
              <a:t>，在</a:t>
            </a:r>
            <a:r>
              <a:rPr kumimoji="1" lang="en-US" altLang="zh-CN" sz="1800" dirty="0"/>
              <a:t>DDL</a:t>
            </a:r>
            <a:r>
              <a:rPr kumimoji="1" lang="zh-CN" altLang="en-US" sz="1800" dirty="0"/>
              <a:t>前交给班长，由班长整理好统一交给助教</a:t>
            </a:r>
            <a:endParaRPr kumimoji="1" lang="zh-CN" altLang="en-US" sz="1800" dirty="0"/>
          </a:p>
          <a:p>
            <a:pPr>
              <a:lnSpc>
                <a:spcPct val="110000"/>
              </a:lnSpc>
            </a:pPr>
            <a:r>
              <a:rPr kumimoji="1" lang="en-US" altLang="zh-CN" sz="1800" dirty="0"/>
              <a:t>Project</a:t>
            </a:r>
            <a:r>
              <a:rPr kumimoji="1" lang="zh-CN" altLang="en-US" sz="1800" dirty="0"/>
              <a:t>和</a:t>
            </a:r>
            <a:r>
              <a:rPr kumimoji="1" lang="en-US" altLang="zh-CN" sz="1800" dirty="0"/>
              <a:t>Assignment</a:t>
            </a:r>
            <a:r>
              <a:rPr kumimoji="1" lang="zh-CN" altLang="en-US" sz="1800" dirty="0"/>
              <a:t>跟章节内容相关</a:t>
            </a:r>
            <a:endParaRPr kumimoji="1" lang="zh-CN" altLang="en-US" sz="1800" dirty="0"/>
          </a:p>
          <a:p>
            <a:pPr lvl="1">
              <a:lnSpc>
                <a:spcPct val="110000"/>
              </a:lnSpc>
            </a:pPr>
            <a:r>
              <a:rPr kumimoji="1" lang="en-US" altLang="zh-CN" sz="1800" dirty="0">
                <a:sym typeface="+mn-ea"/>
              </a:rPr>
              <a:t>Assignment1</a:t>
            </a:r>
            <a:r>
              <a:rPr kumimoji="1" lang="zh-CN" altLang="en-US" sz="1800" dirty="0">
                <a:sym typeface="+mn-ea"/>
              </a:rPr>
              <a:t>：体验人工智能</a:t>
            </a:r>
            <a:endParaRPr kumimoji="1" lang="en-US" altLang="zh-CN" sz="1800" dirty="0"/>
          </a:p>
          <a:p>
            <a:pPr lvl="1">
              <a:lnSpc>
                <a:spcPct val="110000"/>
              </a:lnSpc>
            </a:pPr>
            <a:r>
              <a:rPr kumimoji="1" lang="en-US" altLang="zh-CN" sz="1800" dirty="0">
                <a:sym typeface="+mn-ea"/>
              </a:rPr>
              <a:t>Project</a:t>
            </a:r>
            <a:r>
              <a:rPr kumimoji="1" lang="zh-CN" altLang="en-US" sz="1800" dirty="0">
                <a:sym typeface="+mn-ea"/>
              </a:rPr>
              <a:t> </a:t>
            </a:r>
            <a:r>
              <a:rPr kumimoji="1" lang="en-US" altLang="zh-CN" sz="1800" dirty="0">
                <a:sym typeface="+mn-ea"/>
              </a:rPr>
              <a:t>1</a:t>
            </a:r>
            <a:r>
              <a:rPr kumimoji="1" lang="zh-CN" altLang="en-US" sz="1800" dirty="0">
                <a:sym typeface="+mn-ea"/>
              </a:rPr>
              <a:t>：启发式搜索算法</a:t>
            </a:r>
            <a:endParaRPr kumimoji="1" lang="en-US" altLang="zh-CN" sz="1800" dirty="0"/>
          </a:p>
          <a:p>
            <a:pPr lvl="1">
              <a:lnSpc>
                <a:spcPct val="110000"/>
              </a:lnSpc>
            </a:pPr>
            <a:r>
              <a:rPr kumimoji="1" lang="en-US" altLang="zh-CN" sz="1800" dirty="0">
                <a:sym typeface="+mn-ea"/>
              </a:rPr>
              <a:t>Assignment2</a:t>
            </a:r>
            <a:r>
              <a:rPr kumimoji="1" lang="zh-CN" altLang="en-US" sz="1800" dirty="0">
                <a:sym typeface="+mn-ea"/>
              </a:rPr>
              <a:t>：知识推理</a:t>
            </a:r>
            <a:endParaRPr kumimoji="1" lang="en-US" altLang="zh-CN" sz="1800" dirty="0"/>
          </a:p>
          <a:p>
            <a:pPr lvl="1">
              <a:lnSpc>
                <a:spcPct val="110000"/>
              </a:lnSpc>
            </a:pPr>
            <a:r>
              <a:rPr kumimoji="1" lang="en-US" altLang="zh-CN" sz="1800" dirty="0">
                <a:sym typeface="+mn-ea"/>
              </a:rPr>
              <a:t>Assignment3</a:t>
            </a:r>
            <a:r>
              <a:rPr kumimoji="1" lang="zh-CN" altLang="en-US" sz="1800" dirty="0">
                <a:sym typeface="+mn-ea"/>
              </a:rPr>
              <a:t>：不确定性推理与贝叶斯</a:t>
            </a:r>
            <a:endParaRPr kumimoji="1" lang="en-US" altLang="zh-CN" sz="1800" dirty="0"/>
          </a:p>
          <a:p>
            <a:pPr lvl="1">
              <a:lnSpc>
                <a:spcPct val="110000"/>
              </a:lnSpc>
            </a:pPr>
            <a:r>
              <a:rPr kumimoji="1" lang="en-US" altLang="zh-CN" sz="1800" dirty="0">
                <a:sym typeface="+mn-ea"/>
              </a:rPr>
              <a:t>Project</a:t>
            </a:r>
            <a:r>
              <a:rPr kumimoji="1" lang="zh-CN" altLang="en-US" sz="1800" dirty="0">
                <a:sym typeface="+mn-ea"/>
              </a:rPr>
              <a:t> </a:t>
            </a:r>
            <a:r>
              <a:rPr kumimoji="1" lang="en-US" altLang="zh-CN" sz="1800" dirty="0">
                <a:sym typeface="+mn-ea"/>
              </a:rPr>
              <a:t>2</a:t>
            </a:r>
            <a:r>
              <a:rPr kumimoji="1" lang="zh-CN" altLang="en-US" sz="1800" dirty="0">
                <a:sym typeface="+mn-ea"/>
              </a:rPr>
              <a:t>：待定</a:t>
            </a:r>
            <a:endParaRPr kumimoji="1" lang="zh-CN" altLang="en-US" sz="1800" dirty="0"/>
          </a:p>
          <a:p>
            <a:pPr>
              <a:lnSpc>
                <a:spcPct val="110000"/>
              </a:lnSpc>
            </a:pPr>
            <a:r>
              <a:rPr kumimoji="1" lang="zh-CN" altLang="en-US" sz="1800" dirty="0">
                <a:sym typeface="+mn-ea"/>
              </a:rPr>
              <a:t>独立完成，抄袭直接</a:t>
            </a:r>
            <a:r>
              <a:rPr kumimoji="1" lang="en-US" altLang="zh-CN" sz="1800" dirty="0">
                <a:sym typeface="+mn-ea"/>
              </a:rPr>
              <a:t>0</a:t>
            </a:r>
            <a:r>
              <a:rPr kumimoji="1" lang="zh-CN" altLang="en-US" sz="1800" dirty="0">
                <a:sym typeface="+mn-ea"/>
              </a:rPr>
              <a:t>分（有智能查重功能）</a:t>
            </a:r>
            <a:endParaRPr kumimoji="1" lang="zh-CN" altLang="en-US" sz="1800" dirty="0">
              <a:sym typeface="+mn-ea"/>
            </a:endParaRPr>
          </a:p>
          <a:p>
            <a:pPr>
              <a:lnSpc>
                <a:spcPct val="110000"/>
              </a:lnSpc>
            </a:pPr>
            <a:r>
              <a:rPr kumimoji="1" lang="zh-CN" altLang="en-US" sz="1800" dirty="0">
                <a:sym typeface="+mn-ea"/>
              </a:rPr>
              <a:t>某些</a:t>
            </a:r>
            <a:r>
              <a:rPr kumimoji="1" lang="en-US" altLang="zh-CN" sz="1800" dirty="0">
                <a:sym typeface="+mn-ea"/>
              </a:rPr>
              <a:t>Project</a:t>
            </a:r>
            <a:r>
              <a:rPr kumimoji="1" lang="zh-CN" altLang="en-US" sz="1800" dirty="0">
                <a:sym typeface="+mn-ea"/>
              </a:rPr>
              <a:t>会有</a:t>
            </a:r>
            <a:r>
              <a:rPr kumimoji="1" lang="en-US" altLang="zh-CN" sz="1800" dirty="0">
                <a:sym typeface="+mn-ea"/>
              </a:rPr>
              <a:t>Presentation</a:t>
            </a:r>
            <a:r>
              <a:rPr kumimoji="1" lang="zh-CN" altLang="en-US" sz="1800" dirty="0">
                <a:sym typeface="+mn-ea"/>
              </a:rPr>
              <a:t>的机会，</a:t>
            </a:r>
            <a:r>
              <a:rPr kumimoji="1" lang="en-US" altLang="zh-CN" sz="1800" dirty="0">
                <a:sym typeface="+mn-ea"/>
              </a:rPr>
              <a:t>Presentation</a:t>
            </a:r>
            <a:r>
              <a:rPr kumimoji="1" lang="zh-CN" altLang="en-US" sz="1800" dirty="0">
                <a:sym typeface="+mn-ea"/>
              </a:rPr>
              <a:t>会纳入</a:t>
            </a:r>
            <a:r>
              <a:rPr kumimoji="1" lang="zh-CN" altLang="en-US" sz="1800" dirty="0">
                <a:sym typeface="+mn-ea"/>
              </a:rPr>
              <a:t>考评</a:t>
            </a:r>
            <a:endParaRPr kumimoji="1" lang="zh-CN" altLang="en-US" sz="1800" dirty="0">
              <a:sym typeface="+mn-ea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Project</a:t>
            </a:r>
            <a:r>
              <a:rPr kumimoji="1" lang="zh-CN" altLang="en-US" dirty="0"/>
              <a:t>要求</a:t>
            </a:r>
            <a:endParaRPr kumimoji="1"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628650" y="1597660"/>
            <a:ext cx="7886700" cy="4351338"/>
          </a:xfrm>
        </p:spPr>
        <p:txBody>
          <a:bodyPr>
            <a:normAutofit fontScale="70000"/>
          </a:bodyPr>
          <a:lstStyle/>
          <a:p>
            <a:pPr>
              <a:lnSpc>
                <a:spcPct val="150000"/>
              </a:lnSpc>
            </a:pPr>
            <a:r>
              <a:rPr kumimoji="1" lang="zh-CN" altLang="en-US" dirty="0"/>
              <a:t>报告是完整的、有逻辑的、美观的，需要是单独的文档</a:t>
            </a:r>
            <a:r>
              <a:rPr kumimoji="1" lang="en-US" altLang="zh-CN" dirty="0"/>
              <a:t>(word/pdf)</a:t>
            </a:r>
            <a:r>
              <a:rPr kumimoji="1" lang="zh-CN" altLang="en-US" dirty="0"/>
              <a:t>。</a:t>
            </a:r>
            <a:endParaRPr kumimoji="1" lang="zh-CN" altLang="en-US" dirty="0"/>
          </a:p>
          <a:p>
            <a:pPr lvl="1">
              <a:lnSpc>
                <a:spcPct val="150000"/>
              </a:lnSpc>
            </a:pPr>
            <a:r>
              <a:rPr kumimoji="1" lang="zh-CN" altLang="en-US" dirty="0"/>
              <a:t>你用了什么模型？为什么用？怎么用？</a:t>
            </a:r>
            <a:endParaRPr kumimoji="1" lang="zh-CN" altLang="en-US" dirty="0"/>
          </a:p>
          <a:p>
            <a:pPr lvl="1">
              <a:lnSpc>
                <a:spcPct val="150000"/>
              </a:lnSpc>
            </a:pPr>
            <a:r>
              <a:rPr kumimoji="1" lang="zh-CN" altLang="en-US" dirty="0"/>
              <a:t>你遇到了什么问题？怎么解决的？</a:t>
            </a:r>
            <a:endParaRPr kumimoji="1" lang="en-US" altLang="zh-CN" dirty="0"/>
          </a:p>
          <a:p>
            <a:pPr lvl="1">
              <a:lnSpc>
                <a:spcPct val="150000"/>
              </a:lnSpc>
            </a:pPr>
            <a:r>
              <a:rPr kumimoji="1" lang="zh-CN" altLang="en-US" dirty="0"/>
              <a:t>你实验环境是什么？实验结果分析及超参数选择？</a:t>
            </a:r>
            <a:endParaRPr kumimoji="1" lang="zh-CN" altLang="en-US" dirty="0"/>
          </a:p>
          <a:p>
            <a:pPr lvl="1">
              <a:lnSpc>
                <a:spcPct val="150000"/>
              </a:lnSpc>
            </a:pPr>
            <a:r>
              <a:rPr kumimoji="1" lang="zh-CN" altLang="en-US" dirty="0"/>
              <a:t>内容包括但不限于：实验目的</a:t>
            </a:r>
            <a:r>
              <a:rPr kumimoji="1" lang="en-US" altLang="zh-CN" dirty="0"/>
              <a:t>/</a:t>
            </a:r>
            <a:r>
              <a:rPr kumimoji="1" lang="zh-CN" altLang="en-US" dirty="0"/>
              <a:t>方法</a:t>
            </a:r>
            <a:r>
              <a:rPr kumimoji="1" lang="en-US" altLang="zh-CN" dirty="0"/>
              <a:t>/</a:t>
            </a:r>
            <a:r>
              <a:rPr kumimoji="1" lang="zh-CN" altLang="en-US" dirty="0"/>
              <a:t>过程</a:t>
            </a:r>
            <a:r>
              <a:rPr kumimoji="1" lang="en-US" altLang="zh-CN" dirty="0"/>
              <a:t>/</a:t>
            </a:r>
            <a:r>
              <a:rPr kumimoji="1" lang="zh-CN" altLang="en-US" dirty="0"/>
              <a:t>结果</a:t>
            </a:r>
            <a:r>
              <a:rPr kumimoji="1" lang="en-US" altLang="zh-CN" dirty="0"/>
              <a:t>/</a:t>
            </a:r>
            <a:r>
              <a:rPr kumimoji="1" lang="zh-CN" altLang="en-US" dirty="0"/>
              <a:t>讨论等</a:t>
            </a:r>
            <a:endParaRPr kumimoji="1" lang="en-US" altLang="zh-CN" dirty="0"/>
          </a:p>
          <a:p>
            <a:pPr>
              <a:lnSpc>
                <a:spcPct val="150000"/>
              </a:lnSpc>
            </a:pPr>
            <a:r>
              <a:rPr kumimoji="1" lang="zh-CN" altLang="en-US" dirty="0"/>
              <a:t>代码务必是可执行的。</a:t>
            </a:r>
            <a:endParaRPr kumimoji="1" lang="zh-CN" altLang="en-US" dirty="0"/>
          </a:p>
          <a:p>
            <a:pPr lvl="1">
              <a:lnSpc>
                <a:spcPct val="150000"/>
              </a:lnSpc>
            </a:pPr>
            <a:r>
              <a:rPr kumimoji="1" lang="zh-CN" altLang="en-US" dirty="0"/>
              <a:t>提供执行代码所依赖的主要库。</a:t>
            </a:r>
            <a:endParaRPr kumimoji="1" lang="en-US" altLang="zh-CN" dirty="0"/>
          </a:p>
          <a:p>
            <a:pPr lvl="1">
              <a:lnSpc>
                <a:spcPct val="150000"/>
              </a:lnSpc>
            </a:pPr>
            <a:r>
              <a:rPr kumimoji="1" lang="zh-CN" altLang="en-US" dirty="0"/>
              <a:t>提供执行代码的脚本。</a:t>
            </a:r>
            <a:endParaRPr kumimoji="1" lang="zh-CN" altLang="en-US" dirty="0"/>
          </a:p>
          <a:p>
            <a:pPr lvl="1">
              <a:lnSpc>
                <a:spcPct val="150000"/>
              </a:lnSpc>
            </a:pPr>
            <a:r>
              <a:rPr kumimoji="1" lang="zh-CN" altLang="en-US" dirty="0"/>
              <a:t>必须包括</a:t>
            </a:r>
            <a:r>
              <a:rPr kumimoji="1" lang="en-US" altLang="zh-CN" dirty="0"/>
              <a:t>requirements.txt </a:t>
            </a:r>
            <a:r>
              <a:rPr kumimoji="1" lang="zh-CN" altLang="en-US" dirty="0"/>
              <a:t>及</a:t>
            </a:r>
            <a:r>
              <a:rPr kumimoji="1" lang="en-US" altLang="zh-CN" dirty="0"/>
              <a:t> README.md</a:t>
            </a:r>
            <a:endParaRPr kumimoji="1" lang="en-US" altLang="zh-CN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课程相关资源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628650" y="1825625"/>
            <a:ext cx="7886700" cy="3115945"/>
          </a:xfrm>
        </p:spPr>
        <p:txBody>
          <a:bodyPr>
            <a:normAutofit lnSpcReduction="10000"/>
          </a:bodyPr>
          <a:lstStyle/>
          <a:p>
            <a:r>
              <a:rPr lang="zh-CN" altLang="en-US" dirty="0">
                <a:latin typeface="华文仿宋" panose="02010600040101010101" charset="-122"/>
                <a:ea typeface="华文仿宋" panose="02010600040101010101" charset="-122"/>
                <a:cs typeface="华文仿宋" panose="02010600040101010101" charset="-122"/>
              </a:rPr>
              <a:t>课程</a:t>
            </a:r>
            <a:r>
              <a:rPr lang="en-US" altLang="zh-CN" dirty="0" err="1">
                <a:latin typeface="华文仿宋" panose="02010600040101010101" charset="-122"/>
                <a:ea typeface="华文仿宋" panose="02010600040101010101" charset="-122"/>
                <a:cs typeface="华文仿宋" panose="02010600040101010101" charset="-122"/>
              </a:rPr>
              <a:t>github</a:t>
            </a:r>
            <a:r>
              <a:rPr lang="zh-CN" altLang="en-US" dirty="0">
                <a:latin typeface="华文仿宋" panose="02010600040101010101" charset="-122"/>
                <a:ea typeface="华文仿宋" panose="02010600040101010101" charset="-122"/>
                <a:cs typeface="华文仿宋" panose="02010600040101010101" charset="-122"/>
              </a:rPr>
              <a:t>主页：</a:t>
            </a:r>
            <a:r>
              <a:rPr lang="en-US" altLang="zh-CN" dirty="0">
                <a:latin typeface="华文仿宋" panose="02010600040101010101" charset="-122"/>
                <a:ea typeface="华文仿宋" panose="02010600040101010101" charset="-122"/>
                <a:cs typeface="华文仿宋" panose="02010600040101010101" charset="-122"/>
              </a:rPr>
              <a:t> https://</a:t>
            </a:r>
            <a:r>
              <a:rPr lang="en-US" altLang="zh-CN" dirty="0" err="1">
                <a:latin typeface="华文仿宋" panose="02010600040101010101" charset="-122"/>
                <a:ea typeface="华文仿宋" panose="02010600040101010101" charset="-122"/>
                <a:cs typeface="华文仿宋" panose="02010600040101010101" charset="-122"/>
              </a:rPr>
              <a:t>github.com</a:t>
            </a:r>
            <a:r>
              <a:rPr lang="en-US" altLang="zh-CN" dirty="0">
                <a:latin typeface="华文仿宋" panose="02010600040101010101" charset="-122"/>
                <a:ea typeface="华文仿宋" panose="02010600040101010101" charset="-122"/>
                <a:cs typeface="华文仿宋" panose="02010600040101010101" charset="-122"/>
              </a:rPr>
              <a:t>/</a:t>
            </a:r>
            <a:r>
              <a:rPr lang="en-US" altLang="zh-CN" dirty="0" err="1">
                <a:latin typeface="华文仿宋" panose="02010600040101010101" charset="-122"/>
                <a:ea typeface="华文仿宋" panose="02010600040101010101" charset="-122"/>
                <a:cs typeface="华文仿宋" panose="02010600040101010101" charset="-122"/>
              </a:rPr>
              <a:t>ccloud0525</a:t>
            </a:r>
            <a:r>
              <a:rPr lang="en-US" altLang="zh-CN" dirty="0">
                <a:latin typeface="华文仿宋" panose="02010600040101010101" charset="-122"/>
                <a:ea typeface="华文仿宋" panose="02010600040101010101" charset="-122"/>
                <a:cs typeface="华文仿宋" panose="02010600040101010101" charset="-122"/>
              </a:rPr>
              <a:t>/AI-fundamentals-2026-Spring</a:t>
            </a:r>
            <a:endParaRPr lang="zh-CN" altLang="en-US" dirty="0">
              <a:latin typeface="华文仿宋" panose="02010600040101010101" charset="-122"/>
              <a:ea typeface="华文仿宋" panose="02010600040101010101" charset="-122"/>
              <a:cs typeface="华文仿宋" panose="02010600040101010101" charset="-122"/>
            </a:endParaRPr>
          </a:p>
          <a:p>
            <a:r>
              <a:rPr lang="zh-CN" altLang="en-US" dirty="0">
                <a:latin typeface="华文仿宋" panose="02010600040101010101" charset="-122"/>
                <a:ea typeface="华文仿宋" panose="02010600040101010101" charset="-122"/>
                <a:cs typeface="华文仿宋" panose="02010600040101010101" charset="-122"/>
              </a:rPr>
              <a:t>助教</a:t>
            </a:r>
            <a:r>
              <a:rPr lang="en-US" altLang="zh-CN" dirty="0">
                <a:latin typeface="华文仿宋" panose="02010600040101010101" charset="-122"/>
                <a:ea typeface="华文仿宋" panose="02010600040101010101" charset="-122"/>
                <a:cs typeface="华文仿宋" panose="02010600040101010101" charset="-122"/>
              </a:rPr>
              <a:t>A</a:t>
            </a:r>
            <a:r>
              <a:rPr lang="zh-CN" altLang="en-US" dirty="0">
                <a:latin typeface="华文仿宋" panose="02010600040101010101" charset="-122"/>
                <a:ea typeface="华文仿宋" panose="02010600040101010101" charset="-122"/>
                <a:cs typeface="华文仿宋" panose="02010600040101010101" charset="-122"/>
              </a:rPr>
              <a:t>：陈鹏；助教</a:t>
            </a:r>
            <a:r>
              <a:rPr lang="en-US" altLang="zh-CN" dirty="0">
                <a:latin typeface="华文仿宋" panose="02010600040101010101" charset="-122"/>
                <a:ea typeface="华文仿宋" panose="02010600040101010101" charset="-122"/>
                <a:cs typeface="华文仿宋" panose="02010600040101010101" charset="-122"/>
              </a:rPr>
              <a:t>B</a:t>
            </a:r>
            <a:r>
              <a:rPr lang="zh-CN" altLang="en-US" dirty="0">
                <a:latin typeface="华文仿宋" panose="02010600040101010101" charset="-122"/>
                <a:ea typeface="华文仿宋" panose="02010600040101010101" charset="-122"/>
                <a:cs typeface="华文仿宋" panose="02010600040101010101" charset="-122"/>
              </a:rPr>
              <a:t>：</a:t>
            </a:r>
            <a:r>
              <a:rPr lang="zh-CN" altLang="en-US" dirty="0">
                <a:latin typeface="华文仿宋" panose="02010600040101010101" charset="-122"/>
                <a:ea typeface="华文仿宋" panose="02010600040101010101" charset="-122"/>
                <a:cs typeface="华文仿宋" panose="02010600040101010101" charset="-122"/>
              </a:rPr>
              <a:t>吴行健</a:t>
            </a:r>
            <a:endParaRPr lang="zh-CN" altLang="en-US" dirty="0">
              <a:latin typeface="华文仿宋" panose="02010600040101010101" charset="-122"/>
              <a:ea typeface="华文仿宋" panose="02010600040101010101" charset="-122"/>
              <a:cs typeface="华文仿宋" panose="02010600040101010101" charset="-122"/>
            </a:endParaRPr>
          </a:p>
          <a:p>
            <a:r>
              <a:rPr lang="zh-CN" altLang="en-US" dirty="0">
                <a:latin typeface="华文仿宋" panose="02010600040101010101" charset="-122"/>
                <a:ea typeface="华文仿宋" panose="02010600040101010101" charset="-122"/>
                <a:cs typeface="华文仿宋" panose="02010600040101010101" charset="-122"/>
              </a:rPr>
              <a:t>问答与解答通过</a:t>
            </a:r>
            <a:r>
              <a:rPr lang="en-US" altLang="zh-CN" dirty="0" err="1">
                <a:latin typeface="华文仿宋" panose="02010600040101010101" charset="-122"/>
                <a:ea typeface="华文仿宋" panose="02010600040101010101" charset="-122"/>
                <a:cs typeface="华文仿宋" panose="02010600040101010101" charset="-122"/>
              </a:rPr>
              <a:t>github</a:t>
            </a:r>
            <a:r>
              <a:rPr lang="zh-CN" altLang="en-US" dirty="0">
                <a:latin typeface="华文仿宋" panose="02010600040101010101" charset="-122"/>
                <a:ea typeface="华文仿宋" panose="02010600040101010101" charset="-122"/>
                <a:cs typeface="华文仿宋" panose="02010600040101010101" charset="-122"/>
              </a:rPr>
              <a:t>的</a:t>
            </a:r>
            <a:r>
              <a:rPr lang="en-US" altLang="zh-CN" dirty="0">
                <a:latin typeface="华文仿宋" panose="02010600040101010101" charset="-122"/>
                <a:ea typeface="华文仿宋" panose="02010600040101010101" charset="-122"/>
                <a:cs typeface="华文仿宋" panose="02010600040101010101" charset="-122"/>
              </a:rPr>
              <a:t>issue</a:t>
            </a:r>
            <a:r>
              <a:rPr lang="zh-CN" altLang="en-US" dirty="0">
                <a:latin typeface="华文仿宋" panose="02010600040101010101" charset="-122"/>
                <a:ea typeface="华文仿宋" panose="02010600040101010101" charset="-122"/>
                <a:cs typeface="华文仿宋" panose="02010600040101010101" charset="-122"/>
              </a:rPr>
              <a:t>进行</a:t>
            </a:r>
            <a:endParaRPr lang="zh-CN" altLang="en-US" dirty="0">
              <a:latin typeface="华文仿宋" panose="02010600040101010101" charset="-122"/>
              <a:ea typeface="华文仿宋" panose="02010600040101010101" charset="-122"/>
              <a:cs typeface="华文仿宋" panose="02010600040101010101" charset="-122"/>
            </a:endParaRPr>
          </a:p>
          <a:p>
            <a:r>
              <a:rPr lang="zh-CN" altLang="en-US" dirty="0">
                <a:latin typeface="华文仿宋" panose="02010600040101010101" charset="-122"/>
                <a:ea typeface="华文仿宋" panose="02010600040101010101" charset="-122"/>
                <a:cs typeface="华文仿宋" panose="02010600040101010101" charset="-122"/>
              </a:rPr>
              <a:t>实验课每周五</a:t>
            </a:r>
            <a:r>
              <a:rPr lang="zh-CN" altLang="en-US" dirty="0">
                <a:latin typeface="华文仿宋" panose="02010600040101010101" charset="-122"/>
                <a:ea typeface="华文仿宋" panose="02010600040101010101" charset="-122"/>
                <a:cs typeface="华文仿宋" panose="02010600040101010101" charset="-122"/>
              </a:rPr>
              <a:t>上午</a:t>
            </a:r>
            <a:r>
              <a:rPr lang="en-US" altLang="zh-CN" dirty="0">
                <a:latin typeface="华文仿宋" panose="02010600040101010101" charset="-122"/>
                <a:ea typeface="华文仿宋" panose="02010600040101010101" charset="-122"/>
                <a:cs typeface="华文仿宋" panose="02010600040101010101" charset="-122"/>
              </a:rPr>
              <a:t>3-4</a:t>
            </a:r>
            <a:endParaRPr lang="zh-CN" altLang="en-US" dirty="0">
              <a:latin typeface="华文仿宋" panose="02010600040101010101" charset="-122"/>
              <a:ea typeface="华文仿宋" panose="02010600040101010101" charset="-122"/>
              <a:cs typeface="华文仿宋" panose="02010600040101010101" charset="-122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7" name="标题 1"/>
          <p:cNvSpPr>
            <a:spLocks noGrp="1"/>
          </p:cNvSpPr>
          <p:nvPr>
            <p:ph type="title"/>
          </p:nvPr>
        </p:nvSpPr>
        <p:spPr/>
        <p:txBody>
          <a:bodyPr wrap="square" lIns="91440" tIns="45720" rIns="91440" bIns="45720" anchor="ctr" anchorCtr="0"/>
          <a:lstStyle/>
          <a:p>
            <a:r>
              <a:rPr lang="zh-CN" altLang="en-US"/>
              <a:t>“抄袭”注意事项</a:t>
            </a:r>
            <a:endParaRPr lang="zh-CN" altLang="en-US"/>
          </a:p>
        </p:txBody>
      </p:sp>
      <p:sp>
        <p:nvSpPr>
          <p:cNvPr id="9218" name="内容占位符 2"/>
          <p:cNvSpPr>
            <a:spLocks noGrp="1"/>
          </p:cNvSpPr>
          <p:nvPr>
            <p:ph idx="1"/>
          </p:nvPr>
        </p:nvSpPr>
        <p:spPr/>
        <p:txBody>
          <a:bodyPr wrap="square" lIns="91440" tIns="45720" rIns="91440" bIns="45720" anchor="t" anchorCtr="0"/>
          <a:lstStyle/>
          <a:p>
            <a:pPr>
              <a:lnSpc>
                <a:spcPct val="80000"/>
              </a:lnSpc>
            </a:pPr>
            <a:r>
              <a:rPr lang="zh-CN" altLang="en-US" sz="2500">
                <a:latin typeface="STFangsong" panose="02010600040101010101" pitchFamily="2" charset="-122"/>
                <a:ea typeface="STFangsong" panose="02010600040101010101" pitchFamily="2" charset="-122"/>
              </a:rPr>
              <a:t>帮助</a:t>
            </a:r>
            <a:endParaRPr lang="en-US" altLang="zh-CN" sz="2500">
              <a:latin typeface="STFangsong" panose="02010600040101010101" pitchFamily="2" charset="-122"/>
              <a:ea typeface="STFangsong" panose="02010600040101010101" pitchFamily="2" charset="-122"/>
            </a:endParaRPr>
          </a:p>
          <a:p>
            <a:pPr lvl="1">
              <a:lnSpc>
                <a:spcPct val="80000"/>
              </a:lnSpc>
            </a:pPr>
            <a:r>
              <a:rPr lang="zh-CN" altLang="en-US" sz="2200">
                <a:latin typeface="STFangsong" panose="02010600040101010101" pitchFamily="2" charset="-122"/>
                <a:ea typeface="STFangsong" panose="02010600040101010101" pitchFamily="2" charset="-122"/>
              </a:rPr>
              <a:t>同学间相互帮助、学习。</a:t>
            </a:r>
            <a:r>
              <a:rPr lang="zh-CN" altLang="en-US" sz="2200">
                <a:solidFill>
                  <a:srgbClr val="FF0000"/>
                </a:solidFill>
                <a:latin typeface="STFangsong" panose="02010600040101010101" pitchFamily="2" charset="-122"/>
                <a:ea typeface="STFangsong" panose="02010600040101010101" pitchFamily="2" charset="-122"/>
              </a:rPr>
              <a:t>正能量</a:t>
            </a:r>
            <a:r>
              <a:rPr lang="en-US" altLang="zh-CN" sz="2200">
                <a:solidFill>
                  <a:srgbClr val="FF0000"/>
                </a:solidFill>
                <a:latin typeface="STFangsong" panose="02010600040101010101" pitchFamily="2" charset="-122"/>
                <a:ea typeface="STFangsong" panose="02010600040101010101" pitchFamily="2" charset="-122"/>
              </a:rPr>
              <a:t>- </a:t>
            </a:r>
            <a:r>
              <a:rPr lang="zh-CN" altLang="en-US" sz="2200">
                <a:solidFill>
                  <a:srgbClr val="FF0000"/>
                </a:solidFill>
                <a:latin typeface="STFangsong" panose="02010600040101010101" pitchFamily="2" charset="-122"/>
                <a:ea typeface="STFangsong" panose="02010600040101010101" pitchFamily="2" charset="-122"/>
              </a:rPr>
              <a:t>可赞</a:t>
            </a:r>
            <a:endParaRPr lang="en-US" altLang="zh-CN" sz="2200">
              <a:solidFill>
                <a:srgbClr val="FF0000"/>
              </a:solidFill>
              <a:latin typeface="STFangsong" panose="02010600040101010101" pitchFamily="2" charset="-122"/>
              <a:ea typeface="STFangsong" panose="02010600040101010101" pitchFamily="2" charset="-122"/>
            </a:endParaRPr>
          </a:p>
          <a:p>
            <a:pPr lvl="1">
              <a:lnSpc>
                <a:spcPct val="80000"/>
              </a:lnSpc>
            </a:pPr>
            <a:r>
              <a:rPr lang="zh-CN" altLang="en-US" sz="2200">
                <a:latin typeface="STFangsong" panose="02010600040101010101" pitchFamily="2" charset="-122"/>
                <a:ea typeface="STFangsong" panose="02010600040101010101" pitchFamily="2" charset="-122"/>
              </a:rPr>
              <a:t>帮助者要注意保护自己的代码，及时删除</a:t>
            </a:r>
            <a:endParaRPr lang="en-US" altLang="zh-CN" sz="2200">
              <a:latin typeface="STFangsong" panose="02010600040101010101" pitchFamily="2" charset="-122"/>
              <a:ea typeface="STFangsong" panose="02010600040101010101" pitchFamily="2" charset="-122"/>
            </a:endParaRPr>
          </a:p>
          <a:p>
            <a:pPr lvl="1">
              <a:lnSpc>
                <a:spcPct val="80000"/>
              </a:lnSpc>
            </a:pPr>
            <a:r>
              <a:rPr lang="zh-CN" altLang="en-US" sz="2200">
                <a:latin typeface="STFangsong" panose="02010600040101010101" pitchFamily="2" charset="-122"/>
                <a:ea typeface="STFangsong" panose="02010600040101010101" pitchFamily="2" charset="-122"/>
              </a:rPr>
              <a:t>被帮助者要注意不要使用别人的代码，自己重新实现</a:t>
            </a:r>
            <a:endParaRPr lang="en-US" altLang="zh-CN" sz="2200">
              <a:latin typeface="STFangsong" panose="02010600040101010101" pitchFamily="2" charset="-122"/>
              <a:ea typeface="STFangsong" panose="02010600040101010101" pitchFamily="2" charset="-122"/>
            </a:endParaRPr>
          </a:p>
          <a:p>
            <a:pPr>
              <a:lnSpc>
                <a:spcPct val="80000"/>
              </a:lnSpc>
            </a:pPr>
            <a:r>
              <a:rPr lang="zh-CN" altLang="en-US" sz="2500">
                <a:latin typeface="STFangsong" panose="02010600040101010101" pitchFamily="2" charset="-122"/>
                <a:ea typeface="STFangsong" panose="02010600040101010101" pitchFamily="2" charset="-122"/>
              </a:rPr>
              <a:t>抄袭</a:t>
            </a:r>
            <a:endParaRPr lang="en-US" altLang="zh-CN" sz="2500">
              <a:latin typeface="STFangsong" panose="02010600040101010101" pitchFamily="2" charset="-122"/>
              <a:ea typeface="STFangsong" panose="02010600040101010101" pitchFamily="2" charset="-122"/>
            </a:endParaRPr>
          </a:p>
          <a:p>
            <a:pPr lvl="1">
              <a:lnSpc>
                <a:spcPct val="80000"/>
              </a:lnSpc>
            </a:pPr>
            <a:r>
              <a:rPr lang="zh-CN" altLang="en-US" sz="2200">
                <a:latin typeface="STFangsong" panose="02010600040101010101" pitchFamily="2" charset="-122"/>
                <a:ea typeface="STFangsong" panose="02010600040101010101" pitchFamily="2" charset="-122"/>
              </a:rPr>
              <a:t>直接取用别人的代码</a:t>
            </a:r>
            <a:endParaRPr lang="en-US" altLang="zh-CN" sz="2200">
              <a:latin typeface="STFangsong" panose="02010600040101010101" pitchFamily="2" charset="-122"/>
              <a:ea typeface="STFangsong" panose="02010600040101010101" pitchFamily="2" charset="-122"/>
            </a:endParaRPr>
          </a:p>
          <a:p>
            <a:pPr lvl="1">
              <a:lnSpc>
                <a:spcPct val="80000"/>
              </a:lnSpc>
            </a:pPr>
            <a:r>
              <a:rPr lang="zh-CN" altLang="en-US" sz="2200">
                <a:latin typeface="STFangsong" panose="02010600040101010101" pitchFamily="2" charset="-122"/>
                <a:ea typeface="STFangsong" panose="02010600040101010101" pitchFamily="2" charset="-122"/>
              </a:rPr>
              <a:t>稍作修改别人的代码，比如改变变量名</a:t>
            </a:r>
            <a:endParaRPr lang="en-US" altLang="zh-CN" sz="2200">
              <a:latin typeface="STFangsong" panose="02010600040101010101" pitchFamily="2" charset="-122"/>
              <a:ea typeface="STFangsong" panose="02010600040101010101" pitchFamily="2" charset="-122"/>
            </a:endParaRPr>
          </a:p>
          <a:p>
            <a:pPr lvl="1">
              <a:lnSpc>
                <a:spcPct val="80000"/>
              </a:lnSpc>
            </a:pPr>
            <a:r>
              <a:rPr lang="zh-CN" altLang="en-US" sz="2200">
                <a:latin typeface="STFangsong" panose="02010600040101010101" pitchFamily="2" charset="-122"/>
                <a:ea typeface="STFangsong" panose="02010600040101010101" pitchFamily="2" charset="-122"/>
              </a:rPr>
              <a:t>不管抄袭者理解没理解代码，努力不努力都是错</a:t>
            </a:r>
            <a:endParaRPr lang="en-US" altLang="zh-CN" sz="2200">
              <a:latin typeface="STFangsong" panose="02010600040101010101" pitchFamily="2" charset="-122"/>
              <a:ea typeface="STFangsong" panose="02010600040101010101" pitchFamily="2" charset="-122"/>
            </a:endParaRPr>
          </a:p>
          <a:p>
            <a:pPr>
              <a:lnSpc>
                <a:spcPct val="80000"/>
              </a:lnSpc>
            </a:pPr>
            <a:r>
              <a:rPr lang="zh-CN" altLang="en-US" sz="2500">
                <a:solidFill>
                  <a:srgbClr val="FF0000"/>
                </a:solidFill>
                <a:latin typeface="STFangsong" panose="02010600040101010101" pitchFamily="2" charset="-122"/>
                <a:ea typeface="STFangsong" panose="02010600040101010101" pitchFamily="2" charset="-122"/>
              </a:rPr>
              <a:t>“无意犯错”例子</a:t>
            </a:r>
            <a:endParaRPr lang="en-US" altLang="zh-CN" sz="2500">
              <a:solidFill>
                <a:srgbClr val="FF0000"/>
              </a:solidFill>
              <a:latin typeface="STFangsong" panose="02010600040101010101" pitchFamily="2" charset="-122"/>
              <a:ea typeface="STFangsong" panose="02010600040101010101" pitchFamily="2" charset="-122"/>
            </a:endParaRPr>
          </a:p>
          <a:p>
            <a:pPr lvl="1">
              <a:lnSpc>
                <a:spcPct val="80000"/>
              </a:lnSpc>
            </a:pPr>
            <a:r>
              <a:rPr lang="zh-CN" altLang="en-US" sz="2200">
                <a:latin typeface="STFangsong" panose="02010600040101010101" pitchFamily="2" charset="-122"/>
                <a:ea typeface="STFangsong" panose="02010600040101010101" pitchFamily="2" charset="-122"/>
              </a:rPr>
              <a:t>帮助者把自己代码放入被帮助者代码中调试完毕，没有删除</a:t>
            </a:r>
            <a:endParaRPr lang="en-US" altLang="zh-CN" sz="2200">
              <a:latin typeface="STFangsong" panose="02010600040101010101" pitchFamily="2" charset="-122"/>
              <a:ea typeface="STFangsong" panose="02010600040101010101" pitchFamily="2" charset="-122"/>
            </a:endParaRPr>
          </a:p>
          <a:p>
            <a:pPr lvl="1">
              <a:lnSpc>
                <a:spcPct val="80000"/>
              </a:lnSpc>
            </a:pPr>
            <a:r>
              <a:rPr lang="zh-CN" altLang="en-US" sz="2200">
                <a:latin typeface="STFangsong" panose="02010600040101010101" pitchFamily="2" charset="-122"/>
                <a:ea typeface="STFangsong" panose="02010600040101010101" pitchFamily="2" charset="-122"/>
              </a:rPr>
              <a:t>被帮助者也“忘记删除”</a:t>
            </a:r>
            <a:endParaRPr lang="en-US" altLang="zh-CN" sz="2200">
              <a:latin typeface="STFangsong" panose="02010600040101010101" pitchFamily="2" charset="-122"/>
              <a:ea typeface="STFangsong" panose="02010600040101010101" pitchFamily="2" charset="-122"/>
            </a:endParaRPr>
          </a:p>
          <a:p>
            <a:pPr lvl="1">
              <a:lnSpc>
                <a:spcPct val="80000"/>
              </a:lnSpc>
            </a:pPr>
            <a:r>
              <a:rPr lang="zh-CN" altLang="en-US" sz="2200">
                <a:solidFill>
                  <a:srgbClr val="FF0000"/>
                </a:solidFill>
                <a:latin typeface="STFangsong" panose="02010600040101010101" pitchFamily="2" charset="-122"/>
                <a:ea typeface="STFangsong" panose="02010600040101010101" pitchFamily="2" charset="-122"/>
              </a:rPr>
              <a:t>造成事实犯规</a:t>
            </a:r>
            <a:endParaRPr lang="en-US" altLang="zh-CN" sz="2200">
              <a:solidFill>
                <a:srgbClr val="FF0000"/>
              </a:solidFill>
              <a:latin typeface="STFangsong" panose="02010600040101010101" pitchFamily="2" charset="-122"/>
              <a:ea typeface="STFangsong" panose="02010600040101010101" pitchFamily="2" charset="-122"/>
            </a:endParaRPr>
          </a:p>
          <a:p>
            <a:pPr>
              <a:lnSpc>
                <a:spcPct val="80000"/>
              </a:lnSpc>
            </a:pPr>
            <a:endParaRPr lang="zh-CN" altLang="en-US" sz="2500">
              <a:latin typeface="STFangsong" panose="02010600040101010101" pitchFamily="2" charset="-122"/>
              <a:ea typeface="STFangsong" panose="02010600040101010101" pitchFamily="2" charset="-122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 主题​​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主题​​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主题​​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761</Words>
  <Application>WPS 演示</Application>
  <PresentationFormat>全屏显示(4:3)</PresentationFormat>
  <Paragraphs>55</Paragraphs>
  <Slides>6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6</vt:i4>
      </vt:variant>
    </vt:vector>
  </HeadingPairs>
  <TitlesOfParts>
    <vt:vector size="24" baseType="lpstr">
      <vt:lpstr>Arial</vt:lpstr>
      <vt:lpstr>宋体</vt:lpstr>
      <vt:lpstr>Wingdings</vt:lpstr>
      <vt:lpstr>黑体</vt:lpstr>
      <vt:lpstr>汉仪中黑KW</vt:lpstr>
      <vt:lpstr>华文仿宋</vt:lpstr>
      <vt:lpstr>STFangsong</vt:lpstr>
      <vt:lpstr>等线</vt:lpstr>
      <vt:lpstr>汉仪中等线KW</vt:lpstr>
      <vt:lpstr>Calibri</vt:lpstr>
      <vt:lpstr>Helvetica Neue</vt:lpstr>
      <vt:lpstr>微软雅黑</vt:lpstr>
      <vt:lpstr>汉仪旗黑</vt:lpstr>
      <vt:lpstr>宋体</vt:lpstr>
      <vt:lpstr>Arial Unicode MS</vt:lpstr>
      <vt:lpstr>汉仪书宋二KW</vt:lpstr>
      <vt:lpstr>黑体</vt:lpstr>
      <vt:lpstr>Office 主题​​</vt:lpstr>
      <vt:lpstr>人工智能基础  田锦东 华东师范大学 </vt:lpstr>
      <vt:lpstr>课程考核要求</vt:lpstr>
      <vt:lpstr>Project与Assignment</vt:lpstr>
      <vt:lpstr>Project要求</vt:lpstr>
      <vt:lpstr>课程相关资源</vt:lpstr>
      <vt:lpstr>“抄袭”注意事项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Microsoft Office User</dc:creator>
  <cp:lastModifiedBy>云之澜</cp:lastModifiedBy>
  <cp:revision>111</cp:revision>
  <dcterms:created xsi:type="dcterms:W3CDTF">2026-03-04T05:31:04Z</dcterms:created>
  <dcterms:modified xsi:type="dcterms:W3CDTF">2026-03-04T05:31:04Z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00946BA0EBBACC7DC43BB767F8926F4C_43</vt:lpwstr>
  </property>
  <property fmtid="{D5CDD505-2E9C-101B-9397-08002B2CF9AE}" pid="3" name="KSOProductBuildVer">
    <vt:lpwstr>2052-12.1.25205.25205</vt:lpwstr>
  </property>
</Properties>
</file>